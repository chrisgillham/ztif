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request (USD)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61-4E32-A8A9-39CD8AA66EBA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61-4E32-A8A9-39CD8AA66EBA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61-4E32-A8A9-39CD8AA66EBA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61-4E32-A8A9-39CD8AA66EBA}"/>
              </c:ext>
            </c:extLst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61-4E32-A8A9-39CD8AA66E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Mistral
Small</c:v>
                </c:pt>
                <c:pt idx="1">
                  <c:v>Gemini
2.5 Flash</c:v>
                </c:pt>
                <c:pt idx="2">
                  <c:v>DeepSeek
R2</c:v>
                </c:pt>
                <c:pt idx="3">
                  <c:v>Kimi
K2.6</c:v>
                </c:pt>
                <c:pt idx="4">
                  <c:v>Claude
Sonnet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9.2999999999999997E-5</c:v>
                </c:pt>
                <c:pt idx="1">
                  <c:v>1.74E-4</c:v>
                </c:pt>
                <c:pt idx="2">
                  <c:v>2.7E-4</c:v>
                </c:pt>
                <c:pt idx="3">
                  <c:v>1.11E-4</c:v>
                </c:pt>
                <c:pt idx="4">
                  <c:v>1.5699999999999999E-2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61-4E32-A8A9-39CD8AA66E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6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13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5143500"/>
          </a:xfrm>
          <a:prstGeom prst="rect">
            <a:avLst/>
          </a:prstGeom>
          <a:solidFill>
            <a:srgbClr val="080E1C"/>
          </a:solidFill>
          <a:ln w="12700">
            <a:solidFill>
              <a:srgbClr val="08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663440" y="0"/>
            <a:ext cx="36576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ZTIF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Intent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3840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OWASP Input Validation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Trust &amp; Sentiment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clean input is no longer a safe input.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389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St. Louis Chapter  ·  May 2026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ZTIF-001 v2.0  ·  Chris Gillham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28032" y="292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AMPLIFIER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28032" y="594360"/>
            <a:ext cx="4069080" cy="1261872"/>
          </a:xfrm>
          <a:prstGeom prst="rect">
            <a:avLst/>
          </a:prstGeom>
          <a:solidFill>
            <a:srgbClr val="162033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8032" y="594360"/>
            <a:ext cx="50292" cy="12618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56048" y="658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FOUNDATION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56048" y="850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Input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1338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checks — syntax, encoding, schema, allowlists, injection signatures. Necessary but not sufficient. A syntactically valid prompt can still be a threat.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883664"/>
            <a:ext cx="1828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856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28032" y="2103120"/>
            <a:ext cx="4069080" cy="1261872"/>
          </a:xfrm>
          <a:prstGeom prst="rect">
            <a:avLst/>
          </a:prstGeom>
          <a:solidFill>
            <a:srgbClr val="1A2640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28032" y="2103120"/>
            <a:ext cx="50292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2167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AMPLIFIER 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56048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Trust 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6048" y="26426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 · Least Privilege · Assume Breach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sending this? Are they allowed to? Does the intent match their declared operation? Every request is untrusted until proven otherwise.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28032" y="3630168"/>
            <a:ext cx="4069080" cy="1261872"/>
          </a:xfrm>
          <a:prstGeom prst="rect">
            <a:avLst/>
          </a:prstGeom>
          <a:solidFill>
            <a:srgbClr val="1A2640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28032" y="3630168"/>
            <a:ext cx="502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36941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AMPLIFIER 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56048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41696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−1.0 (hostile) to +1.0 (benign)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urgency, authority abuse, deception, and coercion that no allowlist can detect. Hostile tone amplifies any intent violation into an automatic block.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St. Louis  ·  May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9496" y="1033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 Framework Overview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4-gate architecture · Zero Trust at the semantic layer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746504"/>
            <a:ext cx="5029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" y="18196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837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Sentiment Engine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zones · Sentiment scoring · Violation types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532888"/>
            <a:ext cx="5029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26060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24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AI-Driven Validation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keywords fail · Semantic understanding wins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3319272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319272"/>
            <a:ext cx="5029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" y="33924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25 Cases, STRICT Mode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comparison · Pass/fail breakdown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4105656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105656"/>
            <a:ext cx="502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" y="41788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97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Selection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4453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primary · Gemini co-primary · Claude escalation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960120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960120"/>
            <a:ext cx="502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37176" y="1033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1051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Cost Comparison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· Per-request cost · 168× spread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1746504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1746504"/>
            <a:ext cx="502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37176" y="18196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1837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Escalation Architecture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2093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routing · Cost modeling · Decision ladder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532888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2532888"/>
            <a:ext cx="5029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37176" y="26060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2624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Self-Hosted Models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52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inference · The coming wave · When to use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319272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3319272"/>
            <a:ext cx="5029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37176" y="33924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03520" y="34107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&amp; DeepSeek: China/Local Use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constraints · Risk advisory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4105656"/>
            <a:ext cx="4114800" cy="713232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4105656"/>
            <a:ext cx="5029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37176" y="41788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03520" y="4197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03520" y="4453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· What failed · Recommended path forward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ZTIF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enforcement gates · Continuous audit · Static checkpoint → Dynamic security posture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566928"/>
          </a:xfrm>
          <a:prstGeom prst="rect">
            <a:avLst/>
          </a:prstGeom>
          <a:solidFill>
            <a:srgbClr val="164E63">
              <a:alpha val="45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the input may satisfy 'syntactic' validation, it also needs to be verified as non-malicious before it is used."  — NIST SP 800-228-upd1, §2.3 (March 2026)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920240" cy="2468880"/>
          </a:xfrm>
          <a:prstGeom prst="rect">
            <a:avLst/>
          </a:prstGeom>
          <a:solidFill>
            <a:srgbClr val="1A264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920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96896"/>
            <a:ext cx="1554480" cy="18288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baseline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· Encoding · Schema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280160" cy="201168"/>
          </a:xfrm>
          <a:prstGeom prst="rect">
            <a:avLst/>
          </a:prstGeom>
          <a:solidFill>
            <a:srgbClr val="94A3B8">
              <a:alpha val="20000"/>
            </a:srgbClr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31720" y="2724912"/>
            <a:ext cx="18288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1572768"/>
            <a:ext cx="1920240" cy="2468880"/>
          </a:xfrm>
          <a:prstGeom prst="rect">
            <a:avLst/>
          </a:prstGeom>
          <a:solidFill>
            <a:srgbClr val="1A2640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1572768"/>
            <a:ext cx="19202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604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60604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2596896"/>
            <a:ext cx="1554480" cy="18288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policy engine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Privilege · Profile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3749040"/>
            <a:ext cx="1280160" cy="201168"/>
          </a:xfrm>
          <a:prstGeom prst="rect">
            <a:avLst/>
          </a:prstGeom>
          <a:solidFill>
            <a:srgbClr val="0EA5E9">
              <a:alpha val="2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3464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34840" y="2724912"/>
            <a:ext cx="18288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1572768"/>
            <a:ext cx="1920240" cy="2468880"/>
          </a:xfrm>
          <a:prstGeom prst="rect">
            <a:avLst/>
          </a:prstGeom>
          <a:solidFill>
            <a:srgbClr val="1A2640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1572768"/>
            <a:ext cx="19202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0916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596896"/>
            <a:ext cx="155448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Sentiment · Adversarial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3749040"/>
            <a:ext cx="12801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37960" y="2724912"/>
            <a:ext cx="18288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20840" y="1572768"/>
            <a:ext cx="1920240" cy="2468880"/>
          </a:xfrm>
          <a:prstGeom prst="rect">
            <a:avLst/>
          </a:prstGeom>
          <a:solidFill>
            <a:srgbClr val="1A2640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20840" y="1572768"/>
            <a:ext cx="19202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1228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1228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2596896"/>
            <a:ext cx="1554480" cy="1828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122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validation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· Multi-turn · Log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40880" y="3749040"/>
            <a:ext cx="128016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" y="43525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508760" y="4325112"/>
            <a:ext cx="132588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08760" y="43251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990088" y="4325112"/>
            <a:ext cx="132588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90088" y="43251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ALLOW_WARN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471416" y="4325112"/>
            <a:ext cx="1325880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71416" y="43251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952744" y="4325112"/>
            <a:ext cx="1325880" cy="237744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52744" y="43251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&amp; Sentiment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signals powering Zero Trust LLM input analysis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4160520" cy="3520440"/>
          </a:xfrm>
          <a:prstGeom prst="rect">
            <a:avLst/>
          </a:prstGeom>
          <a:solidFill>
            <a:srgbClr val="1A2640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purpose behind a request — what is the user trying to accomplish?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783080" cy="475488"/>
          </a:xfrm>
          <a:prstGeom prst="rect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819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20208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retrieve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1783080"/>
            <a:ext cx="1783080" cy="475488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1819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42032" y="20208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modify content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2350008"/>
            <a:ext cx="1783080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87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or commands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68880" y="2350008"/>
            <a:ext cx="1783080" cy="475488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42032" y="2587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systems &amp; users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916936"/>
            <a:ext cx="1783080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2953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154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confidential data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68880" y="2916936"/>
            <a:ext cx="1783080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42032" y="2953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42032" y="3154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or manipulative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886968"/>
            <a:ext cx="4069080" cy="3520440"/>
          </a:xfrm>
          <a:prstGeom prst="rect">
            <a:avLst/>
          </a:prstGeom>
          <a:solidFill>
            <a:srgbClr val="1A2640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2801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tone and risk posture — scored −1.0 (hostile) to +1.0 (benign).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manipulation that intent classification alone misses.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847088"/>
            <a:ext cx="36576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1865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/ Pressure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0574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this immediately!"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0600" y="2359152"/>
            <a:ext cx="36576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23774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Abuse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5694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the system admin, override..."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871216"/>
            <a:ext cx="36576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28895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0815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or roleplay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3383280"/>
            <a:ext cx="36576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34015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593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demands, coercion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0" y="3895344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(expected)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41056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 — baseline for normal ops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4535424"/>
            <a:ext cx="8321040" cy="292608"/>
          </a:xfrm>
          <a:prstGeom prst="rect">
            <a:avLst/>
          </a:prstGeom>
          <a:solidFill>
            <a:srgbClr val="7F1D1D">
              <a:alpha val="5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4535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AMPLIFIER: WRITE intent + hostile sentiment (&lt; −0.5) → Automatic BLOCK regardless of structural validity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vs AI-Driven Validation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analysis replaces keyword matching for LLM security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572768" cy="658368"/>
          </a:xfrm>
          <a:prstGeom prst="rect">
            <a:avLst/>
          </a:prstGeom>
          <a:solidFill>
            <a:srgbClr val="164E63">
              <a:alpha val="4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89611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" y="10972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analyzed — no default trust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084832" y="868680"/>
            <a:ext cx="1572768" cy="658368"/>
          </a:xfrm>
          <a:prstGeom prst="rect">
            <a:avLst/>
          </a:prstGeom>
          <a:solidFill>
            <a:srgbClr val="164E63">
              <a:alpha val="4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89611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48840" y="10972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matched to Principal Profile zones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758184" y="868680"/>
            <a:ext cx="1572768" cy="658368"/>
          </a:xfrm>
          <a:prstGeom prst="rect">
            <a:avLst/>
          </a:prstGeom>
          <a:solidFill>
            <a:srgbClr val="164E63">
              <a:alpha val="4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22192" y="89611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22192" y="10972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treated as adversarial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31536" y="868680"/>
            <a:ext cx="1572768" cy="658368"/>
          </a:xfrm>
          <a:prstGeom prst="rect">
            <a:avLst/>
          </a:prstGeom>
          <a:solidFill>
            <a:srgbClr val="164E63">
              <a:alpha val="4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95544" y="89611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Validate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95544" y="10972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 re-evaluated per-turn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104888" y="868680"/>
            <a:ext cx="1572768" cy="658368"/>
          </a:xfrm>
          <a:prstGeom prst="rect">
            <a:avLst/>
          </a:prstGeom>
          <a:solidFill>
            <a:srgbClr val="164E63">
              <a:alpha val="4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68896" y="89611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68896" y="10972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READ/WRITE/EXECUTE/ADMIN per call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1664208"/>
            <a:ext cx="3977640" cy="329184"/>
          </a:xfrm>
          <a:prstGeom prst="rect">
            <a:avLst/>
          </a:prstGeom>
          <a:solidFill>
            <a:srgbClr val="7F1D1D">
              <a:alpha val="5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16642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Input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993392"/>
            <a:ext cx="3977640" cy="2935224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Regex — blocks known bad strings only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478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Allowlists/Denylists — trivially bypassed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Cannot understand context or meaning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264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Evaded with rephrasing or encoding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concept of user identity or privilege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050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High false-positive rates on complex queries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443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Requires constant signature database updates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664208"/>
            <a:ext cx="3977640" cy="329184"/>
          </a:xfrm>
          <a:prstGeom prst="rect">
            <a:avLst/>
          </a:prstGeom>
          <a:solidFill>
            <a:srgbClr val="065F46">
              <a:alpha val="6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6642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AI-Driven Analysis (ZTIF G3)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993392"/>
            <a:ext cx="3977640" cy="2935224"/>
          </a:xfrm>
          <a:prstGeom prst="rect">
            <a:avLst/>
          </a:prstGeom>
          <a:solidFill>
            <a:srgbClr val="1A26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Understanding — grasps intent meaning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478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Intent Classification — maps to action zones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Sentiment Scoring — detects manipulation attempts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264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Adversarial Detection — catches jailbreaks &amp; injections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Considers user profile &amp; privilege context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050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Resistant to rephrasing and obfuscation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443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Provides severity scoring for nuanced decisions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Contract Schema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356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ZTIF-IC-001  ·  The architectural primitive that makes Gate 3 possible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73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chrisgillham.github.io/ZTIF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685800"/>
            <a:ext cx="4224528" cy="4096512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685800"/>
            <a:ext cx="4224528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1920240" cy="201168"/>
          </a:xfrm>
          <a:prstGeom prst="rect">
            <a:avLst/>
          </a:prstGeom>
          <a:solidFill>
            <a:srgbClr val="1A1E2A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713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ZTIF-IC-CHAT-001.yaml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9509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contract_id: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87552" y="950976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ZTIF-IC-CHAT-001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09270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86384" y="1092708"/>
            <a:ext cx="3511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"2.0.0"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3444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field_name: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37260" y="1234440"/>
            <a:ext cx="33604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support_message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13761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risk_tier: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86968" y="1376172"/>
            <a:ext cx="3410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51790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aal_required: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37844" y="1517904"/>
            <a:ext cx="32598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AAL2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" y="180136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declared_purpose: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39012" y="1801368"/>
            <a:ext cx="30586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194310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4632" y="1943100"/>
            <a:ext cx="3813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support: orders, returns.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048" y="20848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4632" y="2084832"/>
            <a:ext cx="3813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admin. No data retrieval.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236829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threat_scenario: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88720" y="2368296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4048" y="251002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4632" y="2510028"/>
            <a:ext cx="3813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injection, instruction-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26517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" y="2651760"/>
            <a:ext cx="3813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override, privilege escalation.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293522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semantic_boundaries: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4048" y="307695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5216" y="3076956"/>
            <a:ext cx="3712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instruction-override language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4048" y="321868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5216" y="3218688"/>
            <a:ext cx="3712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role escalation requests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4048" y="336042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5216" y="3360420"/>
            <a:ext cx="3712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system prompt extraction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4048" y="364388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llm_confidence_threshold: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641348" y="3643884"/>
            <a:ext cx="26563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0.75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allowed_principals: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39273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86968" y="3927348"/>
            <a:ext cx="3410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" y="406908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86968" y="4069080"/>
            <a:ext cx="3410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4048" y="421081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compliance_mappings: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84048" y="435254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5216" y="4352544"/>
            <a:ext cx="3712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OWASP_LLM01  · NIST_SP_800_228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17720" y="713232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17720" y="713232"/>
            <a:ext cx="4114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00016" y="7498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00016" y="93268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contract identifier. Referenced by Gate 3 at runtime to load correct evaluation rules.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17720" y="1289304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17720" y="1289304"/>
            <a:ext cx="4114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00016" y="1325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declared_purpose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00016" y="150876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statement of what this field is for. The LLM guard checks input intent against this declaration.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1865376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17720" y="1865376"/>
            <a:ext cx="4114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00016" y="1901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threat_scenario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00016" y="2084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malicious actor might attempt. Primes the LLM guard's threat model for this specific field.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617720" y="2441448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617720" y="2441448"/>
            <a:ext cx="4114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00016" y="2478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semantic_boundaries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00016" y="266090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 the LLM evaluates input against. Each boundary is a semantic check, not a regex.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17720" y="3017520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617720" y="3017520"/>
            <a:ext cx="4114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00016" y="30540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llm_confidence_threshold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00016" y="323697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below this score route to HITL Quorum rather than auto-decide. Prevents over-confident wrong answers.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617720" y="3593592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17720" y="3593592"/>
            <a:ext cx="4114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00016" y="3630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allowed_principals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00016" y="381304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enforcement. Only these roles may send input to this field, verified per-request by OPA.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617720" y="4169664"/>
            <a:ext cx="2450592" cy="502920"/>
          </a:xfrm>
          <a:prstGeom prst="rect">
            <a:avLst/>
          </a:prstGeom>
          <a:solidFill>
            <a:srgbClr val="162033"/>
          </a:solidFill>
          <a:ln w="50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617720" y="4169664"/>
            <a:ext cx="4114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00016" y="4206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compliance_mappings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00016" y="43891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traceability to OWASP LLM Top 10, NIST SP 800-228, CSA ATF. Built for audit and governance.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196328" y="713232"/>
            <a:ext cx="1737360" cy="1481328"/>
          </a:xfrm>
          <a:prstGeom prst="rect">
            <a:avLst/>
          </a:prstGeom>
          <a:solidFill>
            <a:srgbClr val="1A2640"/>
          </a:solidFill>
          <a:ln w="762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196328" y="713232"/>
            <a:ext cx="173736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287768" y="786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Threat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Method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287768" y="118872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field is for…"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7287768" y="13441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declared_purpose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287768" y="150876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attacker might…"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287768" y="166420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threat_scenario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287768" y="182880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 any input that…"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287768" y="198424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semantic_boundaries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196328" y="2304288"/>
            <a:ext cx="173736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242048" y="23042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Coverage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196328" y="2560320"/>
            <a:ext cx="1737360" cy="301752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196328" y="2560320"/>
            <a:ext cx="36576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287768" y="259689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— Prompt Injection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394192" y="2596896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196328" y="2889504"/>
            <a:ext cx="1737360" cy="301752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196328" y="2889504"/>
            <a:ext cx="36576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287768" y="2926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— Insecure Output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394192" y="292608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G3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196328" y="3218688"/>
            <a:ext cx="1737360" cy="301752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196328" y="3218688"/>
            <a:ext cx="36576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287768" y="325526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— Model DoS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394192" y="325526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196328" y="3547872"/>
            <a:ext cx="1737360" cy="301752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196328" y="3547872"/>
            <a:ext cx="36576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287768" y="358444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— Sensitive Disclosure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8394192" y="3584448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196328" y="3877056"/>
            <a:ext cx="1737360" cy="301752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196328" y="3877056"/>
            <a:ext cx="36576" cy="301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287768" y="39136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— Excessive Agency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8394192" y="391363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+ G3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7196328" y="4206240"/>
            <a:ext cx="1737360" cy="301752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7196328" y="4206240"/>
            <a:ext cx="36576" cy="3017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7287768" y="424281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— Overreliance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8394192" y="4242816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+ HITL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  ·  Intent Contract Schema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Suite — 25 Cases, STRICT Mode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Small · Gemini 2.5 Flash · Claude Sonnet · DeepSeek · Kimi K2.6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850392"/>
            <a:ext cx="8631936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21408" y="850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19856" y="8503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32504" y="8503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36592" y="850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Cost/req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23560" y="850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10528" y="850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1161288"/>
            <a:ext cx="8631936" cy="65836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16128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120700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Small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" y="147218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mistral-small-latest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21408" y="1344168"/>
            <a:ext cx="118872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21408" y="1344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19856" y="13258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32504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13258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$0.000093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3258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12527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parse errors both runs. Fastest provider tested.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1856232"/>
            <a:ext cx="8631936" cy="658368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1856232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19019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" y="216712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21408" y="2039112"/>
            <a:ext cx="118872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21408" y="2039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CO-PRIMARY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419856" y="202082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32504" y="2020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0208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$0.000174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0208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~3.7s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10528" y="1947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5 parse errors. Run 2: clean. Excellent cost/perf.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551176"/>
            <a:ext cx="8631936" cy="65836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551176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" y="259689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" y="28620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21408" y="2734056"/>
            <a:ext cx="1188720" cy="201168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21408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419856" y="27157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32504" y="27157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36592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$0.0157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10528" y="264261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verbose. Unique ADVERSARIAL detection. Zero errors.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3246120"/>
            <a:ext cx="8631936" cy="658368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56032" y="3246120"/>
            <a:ext cx="5486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9184" y="355701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deepseek-chat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21408" y="3429000"/>
            <a:ext cx="118872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121408" y="3429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ONLY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419856" y="34107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032504" y="34107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36592" y="34107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$0.00027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23560" y="34107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10528" y="33375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parse errors run 2 incl. SSN exfil miss. Dev/test only.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6032" y="3941064"/>
            <a:ext cx="8631936" cy="65836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6032" y="3941064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9184" y="398678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K2.6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29184" y="425196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kimi-k2.6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121408" y="4123944"/>
            <a:ext cx="1188720" cy="201168"/>
          </a:xfrm>
          <a:prstGeom prst="rect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121408" y="41239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LOCAL/CHINA ONLY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419856" y="410565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032504" y="41056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36592" y="41056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$0.000111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623560" y="41056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10528" y="403250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parse error rate. Unusable via API. Self-host only.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74320" y="46177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Run 1 had 5 parse errors on complex multi-intent prompts; Run 2 was clean. Monitor in production.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Model Selection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ZTIF guard architecture for enterprise deployments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52928" cy="4069080"/>
          </a:xfrm>
          <a:prstGeom prst="rect">
            <a:avLst/>
          </a:prstGeom>
          <a:solidFill>
            <a:srgbClr val="1A2640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85292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69264"/>
            <a:ext cx="2633472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6926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PRIMARY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Small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mistral-small-latest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of traffic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$0.000093/req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271016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~2.1s avg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71016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176272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parse errors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76272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84048" y="2423160"/>
            <a:ext cx="2633472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TIER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1480" y="27066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parse errors across both test runs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Fastest provider tested — ideal for high-volume guard pre-filtering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3284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Richest violation detail output of any budget model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6393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EU data residency + safe_prompt mode available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9502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Cheapest per-request of all tested providers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36976" y="868680"/>
            <a:ext cx="2852928" cy="4069080"/>
          </a:xfrm>
          <a:prstGeom prst="rect">
            <a:avLst/>
          </a:prstGeom>
          <a:solidFill>
            <a:srgbClr val="1A2640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868680"/>
            <a:ext cx="28529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46704" y="969264"/>
            <a:ext cx="2633472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46704" y="96926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FAILOVER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374136" y="124358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74136" y="153619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74136" y="173736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failover / overflow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$0.000174/req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28416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233672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~3.7s avg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33672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138928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0%* (run 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38928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346704" y="2423160"/>
            <a:ext cx="2633472" cy="18288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74136" y="24871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TIER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74136" y="27066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Near-zero errors when prompt format is stable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74136" y="3017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Rich, accurate violation sets and rationale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74136" y="33284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infrastructure — excellent reliability SLA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74136" y="36393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Strong alternative primary for cost-tolerant workloads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74136" y="39502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Watch run-1 prompt format sensitivity in production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99632" y="868680"/>
            <a:ext cx="2852928" cy="4069080"/>
          </a:xfrm>
          <a:prstGeom prst="rect">
            <a:avLst/>
          </a:prstGeom>
          <a:solidFill>
            <a:srgbClr val="1A2640"/>
          </a:solidFill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99632" y="868680"/>
            <a:ext cx="2852928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09360" y="969264"/>
            <a:ext cx="2633472" cy="201168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09360" y="96926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OPINION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336792" y="124358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4.x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336792" y="153619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claude-sonnet-4-x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36792" y="173736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— ALLOW_WARN cases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91072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$0.0157/req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91072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7196328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 avg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96328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101584" y="2011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parse errors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01584" y="22219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309360" y="2423160"/>
            <a:ext cx="2633472" cy="1828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36792" y="24871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TIER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36792" y="27066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Highest accuracy on adversarial edge cases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36792" y="3017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Unique ADVERSARIAL zone detection (social engineering)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36792" y="33284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Most detailed violation rationale for HITL review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36792" y="36393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errors across all test runs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36792" y="39502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 justified only for critical-confidence decisions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Cost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· Per-request cost · Same 25 STRICT test cases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41248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868680"/>
            <a:ext cx="2926080" cy="1051560"/>
          </a:xfrm>
          <a:prstGeom prst="rect">
            <a:avLst/>
          </a:prstGeom>
          <a:solidFill>
            <a:srgbClr val="1A2640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97880" y="868680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978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168×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35040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vs Claude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35040" y="17099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$0.000093 vs $0.0157 per request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897880" y="2020824"/>
            <a:ext cx="2926080" cy="1051560"/>
          </a:xfrm>
          <a:prstGeom prst="rect">
            <a:avLst/>
          </a:prstGeom>
          <a:solidFill>
            <a:srgbClr val="1A2640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97880" y="2020824"/>
            <a:ext cx="29260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21305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90×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035040" y="26609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vs Claude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35040" y="2862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$0.000174 vs $0.0157 per request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897880" y="3172968"/>
            <a:ext cx="2926080" cy="1051560"/>
          </a:xfrm>
          <a:prstGeom prst="rect">
            <a:avLst/>
          </a:prstGeom>
          <a:solidFill>
            <a:srgbClr val="1A2640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97880" y="3172968"/>
            <a:ext cx="29260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32826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1.9×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035040" y="3813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vs Mistral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35040" y="40142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budget — choose by compliance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65760" y="4425696"/>
            <a:ext cx="8412480" cy="384048"/>
          </a:xfrm>
          <a:prstGeom prst="rect">
            <a:avLst/>
          </a:prstGeom>
          <a:solidFill>
            <a:srgbClr val="92400E">
              <a:alpha val="5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44256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SCALE:  1M requests/month  →  Mistral: ~$93  ·  Gemini: ~$174  ·  Claude: ~$15,700  |  Quality comparable on adversarial cases — choose by compliance posture, not cost alone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Escalation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bulk traffic through budget model · Escalate uncertain cases to frontier for deep reasoning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417320" cy="100584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" y="1755648"/>
            <a:ext cx="128930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" y="2249424"/>
            <a:ext cx="128930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traffic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645920" cy="137160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75688" y="1115568"/>
            <a:ext cx="1517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75688" y="1828800"/>
            <a:ext cx="1517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$0.000093/req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traffic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0" y="2651760"/>
            <a:ext cx="1645920" cy="114300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75688" y="2630859"/>
            <a:ext cx="1517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3264408"/>
            <a:ext cx="1517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$0.000174/req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failover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77640" y="1371600"/>
            <a:ext cx="1417320" cy="8686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41648" y="1481328"/>
            <a:ext cx="128930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BLOCK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41648" y="1892808"/>
            <a:ext cx="128930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decisions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77640" y="2468880"/>
            <a:ext cx="1417320" cy="91440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41648" y="25786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ALLOW_WARN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41648" y="301752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~20%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15000" y="1920240"/>
            <a:ext cx="1645920" cy="137160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79008" y="2029968"/>
            <a:ext cx="1517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79008" y="2743200"/>
            <a:ext cx="1517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$0.0157/req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traffic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589520" y="1920240"/>
            <a:ext cx="1234440" cy="137160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53528" y="2029968"/>
            <a:ext cx="11064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53528" y="2743200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accuracy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91640" y="2011680"/>
            <a:ext cx="32004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91640" y="3108960"/>
            <a:ext cx="320040" cy="18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0" y="1737360"/>
            <a:ext cx="32004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0" y="2889504"/>
            <a:ext cx="32004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0" y="2834640"/>
            <a:ext cx="3200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60920" y="2514600"/>
            <a:ext cx="2286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COST — 25 TEST CASES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251960"/>
            <a:ext cx="8595360" cy="192024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45720" cy="1920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25196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Small only (80%)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0" y="4251960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17720" y="4251960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baseline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425196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primary path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4453128"/>
            <a:ext cx="8595360" cy="192024"/>
          </a:xfrm>
          <a:prstGeom prst="rect">
            <a:avLst/>
          </a:prstGeom>
          <a:solidFill>
            <a:srgbClr val="162033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4453128"/>
            <a:ext cx="4572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453128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(80% Mistral + 20% Claude)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0" y="445312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~$0.063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17720" y="4453128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 cheaper than Claude-only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75120" y="445312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production architecture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4654296"/>
            <a:ext cx="8595360" cy="192024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4654296"/>
            <a:ext cx="45720" cy="1920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654296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only (100%)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0" y="4654296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$0.393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17720" y="4654296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207× more expensive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75120" y="465429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routine guard traffic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COMING WAVE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inference. No API keys.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sovereignty exposure.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cost at scale.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450592"/>
            <a:ext cx="329184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2578608"/>
            <a:ext cx="36576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596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/ 8x7B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7889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via Ollama or vLLM — same API interface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3035808"/>
            <a:ext cx="36576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 / Phi-3.5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246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3.8–14B · Punches above its weight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36576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Coder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· Strong on code/structured output tasks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36576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9684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 2.5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1605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AI · Efficient architecture · Low memory footprint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4407408"/>
            <a:ext cx="36576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44256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4617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Frontier-class locally with consumer GPUs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51960" y="256032"/>
            <a:ext cx="2103120" cy="1207008"/>
          </a:xfrm>
          <a:prstGeom prst="rect">
            <a:avLst/>
          </a:prstGeom>
          <a:solidFill>
            <a:srgbClr val="1A2640"/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51960" y="256032"/>
            <a:ext cx="21031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0" y="347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Inference Cost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6035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the only cost. At 100M requests/month, self-hosted wins by orders of magnitude over any API model.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10528" y="256032"/>
            <a:ext cx="2103120" cy="1207008"/>
          </a:xfrm>
          <a:prstGeom prst="rect">
            <a:avLst/>
          </a:prstGeom>
          <a:solidFill>
            <a:srgbClr val="1A2640"/>
          </a:solidFill>
          <a:ln w="762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10528" y="256032"/>
            <a:ext cx="21031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47688" y="347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47688" y="6035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never leave your environment. No API transmission, no foreign-jurisdiction exposure, no training risk.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51960" y="1554480"/>
            <a:ext cx="2103120" cy="1207008"/>
          </a:xfrm>
          <a:prstGeom prst="rect">
            <a:avLst/>
          </a:prstGeom>
          <a:solidFill>
            <a:srgbClr val="1A2640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51960" y="1554480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0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19019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capacity limited only by your hardware. No throttling, no quota exhaustion during peak ZTIG traffic.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10528" y="1554480"/>
            <a:ext cx="2103120" cy="1207008"/>
          </a:xfrm>
          <a:prstGeom prst="rect">
            <a:avLst/>
          </a:prstGeom>
          <a:solidFill>
            <a:srgbClr val="1A2640"/>
          </a:solidFill>
          <a:ln w="762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10528" y="1554480"/>
            <a:ext cx="21031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47688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47688" y="19019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your domain. Customize system prompts. Version-lock the model. Audit every inference.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51960" y="2834640"/>
            <a:ext cx="4389120" cy="1417320"/>
          </a:xfrm>
          <a:prstGeom prst="rect">
            <a:avLst/>
          </a:prstGeom>
          <a:solidFill>
            <a:srgbClr val="065F46">
              <a:alpha val="4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34840" y="2907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SELF-HOSTED ZTIF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3484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High-volume ZTIG traffic (&gt;500K requests/month) — API cost exceeds hardware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34840" y="34198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Regulated industry or government — zero external data transmission required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34840" y="36941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Air-gapped or classified environments — no internet connectivity available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34840" y="396849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Kimi/DeepSeek replacement — same local deployment, Western-origin model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51960" y="4343400"/>
            <a:ext cx="4389120" cy="475488"/>
          </a:xfrm>
          <a:prstGeom prst="rect">
            <a:avLst/>
          </a:prstGeom>
          <a:solidFill>
            <a:srgbClr val="164E63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407408" y="43434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By 2027, commodity GPU hardware will make self-hosted 7–14B models the default ZTIF guard layer for cost-sensitive enterprise workloads. API models become escalation-only.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Key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test cases · STRICT mode · 5-provider evaluation · Mistral primary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5029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978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978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Small: Production-Ready Guard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127101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parse errors across both runs. Fastest provider. Richest violation detail. EU data residency available. Cheapest at $0.000093/req. Primary recommendation confirmed.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8696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86968"/>
            <a:ext cx="5029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1456" y="978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0368" y="978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Flash: Strong Co-Primary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0368" y="127101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was clean with 0 errors. Excellent cost-speed profile. Run 1 prompt-format sensitivity worth monitoring. Ideal HA failover and solid primary alternative.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50292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" y="2304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Sonnet: Escalation Tier Only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259689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accuracy, most verbose rationale, unique ADVERSARIAL zone detection. 168× more expensive than Mistral. Cost justified only for high-stakes ALLOW_WARN edge cases.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21284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5029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91456" y="2304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Attacks: 100% Blocked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59689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high/critical adversarial attacks — prompt injection, jailbreak, data exfiltration, social engineering — were correctly ESCALATEd or BLOCKed across all providers.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53872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538728"/>
            <a:ext cx="5029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" y="36301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6968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K2.6: Remove from API Production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392277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parse error rate. Latency up to 186s. Effectively zero structured output via cloud API. Valid only as self-hosted, local, or China-region air-gapped deployment.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538728"/>
            <a:ext cx="4160520" cy="1234440"/>
          </a:xfrm>
          <a:prstGeom prst="rect">
            <a:avLst/>
          </a:prstGeom>
          <a:solidFill>
            <a:srgbClr val="1A2640"/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538728"/>
            <a:ext cx="5029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36301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Models: The Strategic Horizon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392277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7B, Phi-4, Qwen 2.5, and Llama 3.3 70B via vLLM/Ollama represent free inference at scale. By 2027, self-hosted will be the default for high-volume ZTIF guard workloads.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ZTIF-PROTECTED MISTRAL CHAT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02336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chrisgillham.github.io/ZTIF/mistral-chat-ztif.html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47548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ZTIF-IC-CHAT-001 · Read-only chat contract active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023360" cy="47548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86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23865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structural · G2 context · G3 semantic · G4 rules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4023360" cy="47548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2953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 · API key configurable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4023360" cy="47548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Guard: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3520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screened before LLM call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4023360" cy="475488"/>
          </a:xfrm>
          <a:prstGeom prst="rect">
            <a:avLst/>
          </a:prstGeom>
          <a:solidFill>
            <a:srgbClr val="1A2640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0873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63040" y="4087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 jailbreak — watch ZTIF intercept 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19472" y="347472"/>
            <a:ext cx="3931920" cy="1417320"/>
          </a:xfrm>
          <a:prstGeom prst="rect">
            <a:avLst/>
          </a:prstGeom>
          <a:solidFill>
            <a:srgbClr val="1A2640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9472" y="347472"/>
            <a:ext cx="39319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457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Portal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7498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chrisgillham.github.io/ZTIF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9875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 · OSI Model · Developer Guide · Intent Contract Schema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19472" y="1856232"/>
            <a:ext cx="3931920" cy="1417320"/>
          </a:xfrm>
          <a:prstGeom prst="rect">
            <a:avLst/>
          </a:prstGeom>
          <a:solidFill>
            <a:srgbClr val="1A2640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19472" y="1856232"/>
            <a:ext cx="39319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19659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258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github.com/chrisgillham/ZTIF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249631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ZTIF-001 v2.0 · Intent Contracts · OWASP Juice Shop Integration · Course Labs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19472" y="3364992"/>
            <a:ext cx="3931920" cy="1417320"/>
          </a:xfrm>
          <a:prstGeom prst="rect">
            <a:avLst/>
          </a:prstGeom>
          <a:solidFill>
            <a:srgbClr val="1A2640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9472" y="3364992"/>
            <a:ext cx="3931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34747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Contract Reference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3767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ZTIF-IC-001 Schema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4005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schema for ZTIF-IC-CHAT-001 and all production-ready intent contracts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  ·  ZTIF-001 v2.0  ·  OWASP St. Louis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C1E35"/>
          </a:solidFill>
          <a:ln w="12700">
            <a:solidFill>
              <a:srgbClr val="0C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ZTIF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Intent Framework  ·  ZTIF-001 v2.0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St. Louis Chapter  ·  May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5486400" cy="182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3017520" cy="804672"/>
          </a:xfrm>
          <a:prstGeom prst="rect">
            <a:avLst/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57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first, Gemini co-primary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models match frontier quality on adversarial detection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0" y="2633472"/>
            <a:ext cx="3017520" cy="804672"/>
          </a:xfrm>
          <a:prstGeom prst="rect">
            <a:avLst/>
          </a:prstGeom>
          <a:solidFill>
            <a:srgbClr val="F97316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0" y="2633472"/>
            <a:ext cx="4572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27249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= escalation, not default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94760" y="29809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168× cost savings — reserve premium reasoning for edge cases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017520" cy="80467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457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6393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are the future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inference coming fast — API costs become optional overhead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0" y="3547872"/>
            <a:ext cx="3017520" cy="804672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0" y="3547872"/>
            <a:ext cx="45720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94760" y="36393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extends to semantics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38953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semantic gate closes the prompt-level gap keywords cannot fill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347472"/>
            <a:ext cx="2103120" cy="4315968"/>
          </a:xfrm>
          <a:prstGeom prst="rect">
            <a:avLst/>
          </a:prstGeom>
          <a:solidFill>
            <a:srgbClr val="1A2640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0" y="347472"/>
            <a:ext cx="21031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502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95160" y="1051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Gillham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13258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· CSSLP · CCZT · TAISE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Cyber Security Architect, Bayer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Graduate Instructor, WashU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95160" y="2057400"/>
            <a:ext cx="1737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Portal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95160" y="2359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chrisgillham.github.io/ZTIF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995160" y="2706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9516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mistral-chat-ztif.html</a:t>
            </a:r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Phi4 Mini Google </a:t>
            </a:r>
            <a:r>
              <a:rPr lang="en-US" sz="7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7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Intent Guard Google </a:t>
            </a:r>
            <a:r>
              <a:rPr lang="en-US" sz="7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7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95160" y="3236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995160" y="3419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github.com/chrisgillham/ZTIF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·  Chris Gillham  ·  ZTIF-001 v2.0  ·  OWASP St. Louis  ·  May 2026</a:t>
            </a:r>
            <a:endParaRPr lang="en-US" sz="800" dirty="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B7AB2260-37FD-4472-DE33-EA50F9B98EB0}"/>
              </a:ext>
            </a:extLst>
          </p:cNvPr>
          <p:cNvSpPr/>
          <p:nvPr/>
        </p:nvSpPr>
        <p:spPr>
          <a:xfrm>
            <a:off x="6995160" y="373336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BE91322A-13F8-9B36-8D4D-A6A3EEE45102}"/>
              </a:ext>
            </a:extLst>
          </p:cNvPr>
          <p:cNvSpPr/>
          <p:nvPr/>
        </p:nvSpPr>
        <p:spPr>
          <a:xfrm>
            <a:off x="6995160" y="3941061"/>
            <a:ext cx="1828800" cy="62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assistance implementing ZTIF in the OWASP Juice Shop to demonstrate the concept and effectiveness.  OPA integration as well.</a:t>
            </a:r>
          </a:p>
          <a:p>
            <a:pPr marL="0" indent="0">
              <a:buNone/>
            </a:pPr>
            <a:endParaRPr lang="en-US" sz="7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 cases also open to discuss.</a:t>
            </a:r>
          </a:p>
          <a:p>
            <a:pPr marL="0" indent="0">
              <a:buNone/>
            </a:pPr>
            <a:b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know if you are interested!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2721</Words>
  <Application>Microsoft Office PowerPoint</Application>
  <PresentationFormat>On-screen Show (16:9)</PresentationFormat>
  <Paragraphs>501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ZTIF — Zero Trust Intent Framework</dc:title>
  <dc:subject>PptxGenJS Presentation</dc:subject>
  <dc:creator>Chris Gillham</dc:creator>
  <cp:lastModifiedBy>Chris Gillham</cp:lastModifiedBy>
  <cp:revision>6</cp:revision>
  <dcterms:created xsi:type="dcterms:W3CDTF">2026-05-19T11:24:24Z</dcterms:created>
  <dcterms:modified xsi:type="dcterms:W3CDTF">2026-05-20T00:21:59Z</dcterms:modified>
</cp:coreProperties>
</file>